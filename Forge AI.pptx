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</ns0:sldIdLst>
  <ns0:sldSz cx="12192000" cy="6858000" type="screen4x3"/>
  <ns0:notesSz cx="6858000" cy="9144000"/>
  <ns0:embeddedFontLst>
    <ns0:embeddedFont>
      <ns0:font typeface="IBM Plex Mono"/>
      <ns0:bold ns1:id="rIdFont18"/>
      <ns0:regular ns1:id="rIdFont19"/>
    </ns0:embeddedFont>
    <ns0:embeddedFont>
      <ns0:font typeface="IBM Plex Sans Thai"/>
      <ns0:bold ns1:id="rIdFont20"/>
      <ns0:regular ns1:id="rIdFont21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Font18" Type="http://schemas.openxmlformats.org/officeDocument/2006/relationships/font" Target="fonts/a5bc0df0-96bc-45b8-98e8-05de5e7e2586.fntdata" /><ns0:Relationship Id="rIdFont19" Type="http://schemas.openxmlformats.org/officeDocument/2006/relationships/font" Target="fonts/9b43b41b-b1d8-4acd-82ec-702813624d19.fntdata" /><ns0:Relationship Id="rIdFont20" Type="http://schemas.openxmlformats.org/officeDocument/2006/relationships/font" Target="fonts/7335ff8b-a42b-4df8-a1ea-3f77bbe3cd3a.fntdata" /><ns0:Relationship Id="rIdFont21" Type="http://schemas.openxmlformats.org/officeDocument/2006/relationships/font" Target="fonts/00fe0cab-31b3-4ecb-bf39-47bcf41d6fd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5181600"/>
            <a:ext cx="10820400" cy="1104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717655" y="1214437"/>
            <a:ext cx="4788544" cy="3609975"/>
          </a:xfrm>
          <a:prstGeom prst="roundRect">
            <a:avLst>
              <a:gd name="adj" fmla="val 5277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5181600"/>
            <a:ext cx="108204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581025"/>
            <a:ext cx="95250" cy="266700"/>
          </a:xfrm>
          <a:prstGeom prst="roundRect">
            <a:avLst>
              <a:gd name="adj" fmla="val 4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4390876"/>
            <a:ext cx="685800" cy="3810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022455" y="1519237"/>
            <a:ext cx="4178944" cy="885825"/>
          </a:xfrm>
          <a:prstGeom prst="roundRect">
            <a:avLst>
              <a:gd name="adj" fmla="val 150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022455" y="2576512"/>
            <a:ext cx="4178944" cy="885825"/>
          </a:xfrm>
          <a:prstGeom prst="roundRect">
            <a:avLst>
              <a:gd name="adj" fmla="val 150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022455" y="3633787"/>
            <a:ext cx="4178944" cy="885825"/>
          </a:xfrm>
          <a:prstGeom prst="roundRect">
            <a:avLst>
              <a:gd name="adj" fmla="val 15053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2005" y="1828800"/>
            <a:ext cx="333375" cy="2667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005" y="2886075"/>
            <a:ext cx="266700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005" y="3943350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48700" y="619125"/>
            <a:ext cx="35433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BM Plex Mono"/>
              </a:rPr>
              <a:t>Frontend • Backend • AI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"/>
            <a:ext cx="414813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BM Plex Sans Thai"/>
              </a:rPr>
              <a:t>สถาปัตยกรรมระบบกระจายศูนย์ • โครงสร้าง 3AiWEB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1609725"/>
            <a:ext cx="7216722" cy="7124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5609"/>
              </a:lnSpc>
            </a:pPr>
            <a:r>
              <a:rPr b="1" sz="5100" i="0" u="none">
                <a:solidFill>
                  <a:srgbClr val="F8FAFC"/>
                </a:solidFill>
                <a:latin typeface="IBM Plex Sans Thai"/>
              </a:rPr>
              <a:t>Forge 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512665"/>
            <a:ext cx="5873390" cy="792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b="1" sz="2400" i="0" u="none">
                <a:solidFill>
                  <a:srgbClr val="38BDF8"/>
                </a:solidFill>
                <a:latin typeface="IBM Plex Sans Thai"/>
              </a:rPr>
              <a:t>หลักการทำงานของระบบสร้างและประมวลผลภาพ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495526"/>
            <a:ext cx="5593705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b="0" sz="1650" i="0" u="none">
                <a:solidFill>
                  <a:srgbClr val="CBD5E1"/>
                </a:solidFill>
                <a:latin typeface="IBM Plex Sans Thai"/>
              </a:rPr>
              <a:t>เจาะลึกการแยกส่วนการทำงาน 3 เครื่อง ลำดับคำขอ 15 ขั้นตอน และกลไกประมวลผลภาพทั้ง 5 โหมดตั้งแต่หน้าเว็บจนถึง GPU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419725"/>
            <a:ext cx="4550717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BM Plex Sans Thai"/>
              </a:rPr>
              <a:t>โหมดการทำงานหลัก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695950"/>
            <a:ext cx="4550717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IBM Plex Sans Thai"/>
              </a:rPr>
              <a:t>Text2Img • Img2Img • Blur • Canny • Object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1267" y="5419725"/>
            <a:ext cx="3296691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BM Plex Sans Thai"/>
              </a:rPr>
              <a:t>เครื่องมือประมวลผลภาพ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41267" y="5695950"/>
            <a:ext cx="3296691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F8FAFC"/>
                </a:solidFill>
                <a:latin typeface="IBM Plex Sans Thai"/>
              </a:rPr>
              <a:t>Stable Diffusion • OpenCV • MediaPipe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2709" y="5419725"/>
            <a:ext cx="325874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94A3B8"/>
                </a:solidFill>
                <a:latin typeface="IBM Plex Sans Thai"/>
              </a:rPr>
              <a:t>รูปแบบการรับส่งข้อมูล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2709" y="5695950"/>
            <a:ext cx="325874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38BDF8"/>
                </a:solidFill>
                <a:latin typeface="IBM Plex Sans Thai"/>
              </a:rPr>
              <a:t>REST API • JSON Base64 • JWT Token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780" y="1690687"/>
            <a:ext cx="2209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IBM Plex Mono"/>
              </a:rPr>
              <a:t>เครื่องที่ 1 • พอร์ต 8080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17780" y="1919287"/>
            <a:ext cx="22098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BM Plex Sans Thai"/>
              </a:rPr>
              <a:t>Frontend &amp; Nginx Proxy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1105" y="2747962"/>
            <a:ext cx="2476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BBF24"/>
                </a:solidFill>
                <a:latin typeface="IBM Plex Mono"/>
              </a:rPr>
              <a:t>เครื่องที่ 2 • พอร์ต 5000 / 5001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51105" y="2976562"/>
            <a:ext cx="24765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BM Plex Sans Thai"/>
              </a:rPr>
              <a:t>API Gateway &amp; ระบบสมาชิก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1105" y="3805237"/>
            <a:ext cx="24955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4D399"/>
                </a:solidFill>
                <a:latin typeface="IBM Plex Mono"/>
              </a:rPr>
              <a:t>เครื่องที่ 3 • พอร์ต 5002 / 7860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1105" y="4033837"/>
            <a:ext cx="24955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8FAFC"/>
                </a:solidFill>
                <a:latin typeface="IBM Plex Sans Thai"/>
              </a:rPr>
              <a:t>AI Server &amp; Forge Neo GPU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81200"/>
            <a:ext cx="4095750" cy="4171950"/>
          </a:xfrm>
          <a:prstGeom prst="roundRect">
            <a:avLst>
              <a:gd name="adj" fmla="val 4186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52500" y="4991100"/>
            <a:ext cx="3409950" cy="1905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86350" y="1581150"/>
            <a:ext cx="649605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86350" y="2667000"/>
            <a:ext cx="649605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86350" y="3752850"/>
            <a:ext cx="649605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86350" y="4838700"/>
            <a:ext cx="6496050" cy="628650"/>
          </a:xfrm>
          <a:prstGeom prst="roundRect">
            <a:avLst>
              <a:gd name="adj" fmla="val 1818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86350" y="5600700"/>
            <a:ext cx="6496050" cy="95250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2324100"/>
            <a:ext cx="3409950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01 • ภาพรวมความสามารถของระบบ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ระบบนี้ทำอะไรได้บ้าง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2876550"/>
            <a:ext cx="368046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BM Plex Sans Thai"/>
              </a:rPr>
              <a:t>แนวคิดหลัก: แยกงาน 3 เครื่อง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3924300"/>
            <a:ext cx="35052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334155"/>
                </a:solidFill>
                <a:latin typeface="IBM Plex Sans Thai"/>
              </a:rPr>
              <a:t>แยกภาระงานหนักของ AI ที่ใช้การ์ดจอ (GPU) ออกจากหน้าเว็บและฐานข้อมูลสมาชิกอย่างชัดเจน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2500" y="5219700"/>
            <a:ext cx="35052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369A1"/>
                </a:solidFill>
                <a:latin typeface="IBM Plex Sans Thai"/>
              </a:rPr>
              <a:t>มีแกลเลอรี่บันทึกภาพส่วนตัวและหน้า Admin สำหรับจัดการผู้ใช้งาน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14950" y="1733550"/>
            <a:ext cx="61341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IBM Plex Sans Thai"/>
              </a:rPr>
              <a:t>1. สร้างภาพจากข้อความ (Text-to-Image):</a:t>
            </a:r>
            <a:r>
              <a:rPr b="0" sz="1575" i="0" u="none">
                <a:solidFill>
                  <a:srgbClr val="1E293B"/>
                </a:solidFill>
                <a:latin typeface="IBM Plex Sans Thai"/>
              </a:rPr>
              <a:t> วาดภาพใหม่จากคำสั่ง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14950" y="2819400"/>
            <a:ext cx="61341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IBM Plex Sans Thai"/>
              </a:rPr>
              <a:t>2. แปลงภาพเดิมเป็นภาพใหม่ (Image-to-Image):</a:t>
            </a:r>
            <a:r>
              <a:rPr b="0" sz="1575" i="0" u="none">
                <a:solidFill>
                  <a:srgbClr val="1E293B"/>
                </a:solidFill>
                <a:latin typeface="IBM Plex Sans Thai"/>
              </a:rPr>
              <a:t> ดัดแปลงภาพต้นฉบับตามคำสั่ง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14950" y="3905250"/>
            <a:ext cx="61341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IBM Plex Sans Thai"/>
              </a:rPr>
              <a:t>3. เบลอภาพ (Blur):</a:t>
            </a:r>
            <a:r>
              <a:rPr b="0" sz="1575" i="0" u="none">
                <a:solidFill>
                  <a:srgbClr val="1E293B"/>
                </a:solidFill>
                <a:latin typeface="IBM Plex Sans Thai"/>
              </a:rPr>
              <a:t> ลดความคมชัดของภาพอย่างรวดเร็วด้วยตัวกรอง Gaussian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4950" y="4991100"/>
            <a:ext cx="61341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IBM Plex Sans Thai"/>
              </a:rPr>
              <a:t>4. ดึงเส้นขอบ (Canny):</a:t>
            </a:r>
            <a:r>
              <a:rPr b="0" sz="1575" i="0" u="none">
                <a:solidFill>
                  <a:srgbClr val="1E293B"/>
                </a:solidFill>
                <a:latin typeface="IBM Plex Sans Thai"/>
              </a:rPr>
              <a:t> สกัดเฉพาะโครงร่างเส้นขาวดำจากภาพต้นฉบับ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4950" y="5753100"/>
            <a:ext cx="61341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1E293B"/>
                </a:solidFill>
                <a:latin typeface="IBM Plex Sans Thai"/>
              </a:rPr>
              <a:t>5. ตรวจจับวัตถุ (Object Detection):</a:t>
            </a:r>
            <a:r>
              <a:rPr b="0" sz="1575" i="0" u="none">
                <a:solidFill>
                  <a:srgbClr val="1E293B"/>
                </a:solidFill>
                <a:latin typeface="IBM Plex Sans Thai"/>
              </a:rPr>
              <a:t> ตีกรอบระบุชนิดและนับจำนวนวัตถุบนเว็บ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4972050"/>
            <a:ext cx="10972800" cy="733425"/>
          </a:xfrm>
          <a:prstGeom prst="roundRect">
            <a:avLst>
              <a:gd name="adj" fmla="val 1818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38375"/>
            <a:ext cx="325115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470350" y="2238375"/>
            <a:ext cx="325115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31100" y="2238375"/>
            <a:ext cx="3251150" cy="2428875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3150" y="3300412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900" y="3300412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02 • โครงสร้างเครือข่ายและการเชื่อมต่อ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สถาปัตยกรรมระบบ 3 เครื่อง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8250" y="5181600"/>
            <a:ext cx="981075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IBM Plex Sans Thai"/>
              </a:rPr>
              <a:t>ข้อดี: เครื่อง GPU ทำงานเฉพาะ AI เต็มประสิทธิภาพ • รีสตาร์ทแยกส่วนได้อิสระ • ทดสอบเครื่องเดียวชี้ไปที่ 127.0.0.1 ได้ทันที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5350" y="2895600"/>
            <a:ext cx="291364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BM Plex Sans Thai"/>
              </a:rPr>
              <a:t>เครื่อง 1: 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3390900"/>
            <a:ext cx="2774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 Thai"/>
              </a:rPr>
              <a:t>โฟลเดอร์ </a:t>
            </a:r>
            <a:r>
              <a:rPr b="0" sz="1350" i="0" u="none">
                <a:solidFill>
                  <a:srgbClr val="64748B"/>
                </a:solidFill>
                <a:latin typeface="IBM Plex Sans Thai"/>
              </a:rPr>
              <a:t>frontend/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790950"/>
            <a:ext cx="27749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BM Plex Sans Thai"/>
              </a:rPr>
              <a:t>Nginx เสิร์ฟหน้าเว็บและส่งต่อคำขอ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/api/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ไปยังเครื่องที่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6100" y="2895600"/>
            <a:ext cx="291364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BM Plex Sans Thai"/>
              </a:rPr>
              <a:t>เครื่อง 2: BACKEND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6100" y="3390900"/>
            <a:ext cx="2774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 Thai"/>
              </a:rPr>
              <a:t>โฟลเดอร์ </a:t>
            </a:r>
            <a:r>
              <a:rPr b="0" sz="1350" i="0" u="none">
                <a:solidFill>
                  <a:srgbClr val="64748B"/>
                </a:solidFill>
                <a:latin typeface="IBM Plex Sans Thai"/>
              </a:rPr>
              <a:t>backend/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6100" y="3790950"/>
            <a:ext cx="27749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BM Plex Sans Thai"/>
              </a:rPr>
              <a:t>server.py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ตรวจข้อมูลและเชื่อมกับ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auth.py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(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user.db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6850" y="2895600"/>
            <a:ext cx="291364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BM Plex Sans Thai"/>
              </a:rPr>
              <a:t>เครื่อง 3: AI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16850" y="3390900"/>
            <a:ext cx="27749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BM Plex Sans Thai"/>
              </a:rPr>
              <a:t>โฟลเดอร์ </a:t>
            </a:r>
            <a:r>
              <a:rPr b="0" sz="1350" i="0" u="none">
                <a:solidFill>
                  <a:srgbClr val="64748B"/>
                </a:solidFill>
                <a:latin typeface="IBM Plex Sans Thai"/>
              </a:rPr>
              <a:t>ai/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16850" y="3790950"/>
            <a:ext cx="277490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1E293B"/>
                </a:solidFill>
                <a:latin typeface="IBM Plex Sans Thai"/>
              </a:rPr>
              <a:t>chat.py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ประมวลผลภาพด้วย OpenCV และสั่งงาน Forge Neo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2524125"/>
            <a:ext cx="1238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Mono"/>
              </a:rPr>
              <a:t>192.168.1.10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7750" y="2524125"/>
            <a:ext cx="9525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BM Plex Mono"/>
              </a:rPr>
              <a:t>พอร์ต 8080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6100" y="2524125"/>
            <a:ext cx="1238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D97706"/>
                </a:solidFill>
                <a:latin typeface="IBM Plex Mono"/>
              </a:rPr>
              <a:t>192.168.1.20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07000" y="2524125"/>
            <a:ext cx="152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BM Plex Mono"/>
              </a:rPr>
              <a:t>พอร์ต 5000, 5001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6850" y="2524125"/>
            <a:ext cx="1238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D9488"/>
                </a:solidFill>
                <a:latin typeface="IBM Plex Mono"/>
              </a:rPr>
              <a:t>192.168.1.30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67751" y="2524125"/>
            <a:ext cx="15240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64748B"/>
                </a:solidFill>
                <a:latin typeface="IBM Plex Mono"/>
              </a:rPr>
              <a:t>พอร์ต 5002, 7860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609600" y="1604962"/>
          <a:ext cx="10972798" cy="469582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523678"/>
                <a:gridCol w="1426368"/>
                <a:gridCol w="3730674"/>
                <a:gridCol w="3292078"/>
              </a:tblGrid>
              <a:tr h="670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ส่วนประกอบ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พอร์ต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หน้าที่หลัก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การตั้งค่าสำคัญ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670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Frontend (</a:t>
                      </a:r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script.js</a:t>
                      </a:r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Mono"/>
                        </a:rPr>
                        <a:t>เบราว์เซอร์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ควบคุมหน้าเว็บด้วย </a:t>
                      </a:r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ForgeAIController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config.js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 กำหนดที่อยู่เชื่อม 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Nginx Proxy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BM Plex Mono"/>
                        </a:rPr>
                        <a:t>8080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เสิร์ฟเว็บและส่งต่อคำขอ </a:t>
                      </a:r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/api/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ขนาดข้อมูล 100m (กัน 413) • รอ 300s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0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server.py</a:t>
                      </a:r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 (Gateway)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IBM Plex Mono"/>
                        </a:rPr>
                        <a:t>5000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ด่านหน้าตรวจข้อมูลครบถ้วนและตรวจ JWT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จัดการรหัสผิดพลาด 502 และ 504 (รอ 200s)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auth.py</a:t>
                      </a:r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 (ระบบสมาชิก)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IBM Plex Mono"/>
                        </a:rPr>
                        <a:t>5001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จัดการล็อกอิน แกลเลอรี่ และหน้า Admin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เก็บข้อมูลใน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user.db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 และโฟลเดอร์รูป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670832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chat.py</a:t>
                      </a:r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 (AI Server)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IBM Plex Mono"/>
                        </a:rPr>
                        <a:t>5002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แยกโหมดส่ง Forge หรือแต่งภาพด้วย OpenCV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รอผลจาก Forge สูงสุด 180 วินาที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70833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Forge Neo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IBM Plex Mono"/>
                        </a:rPr>
                        <a:t>7860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ประมวลผลโมเดล Stable Diffusion บน GPU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ต้องเปิดด้วยพารามิเตอร์ </a:t>
                      </a:r>
                      <a:r>
                        <a:rPr b="0" sz="1350" i="0" u="none">
                          <a:solidFill>
                            <a:srgbClr val="475569"/>
                          </a:solidFill>
                          <a:latin typeface="IBM Plex Sans Thai"/>
                        </a:rPr>
                        <a:t>--api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03 • รายละเอียดส่วนประกอบย่อย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แต่ละส่วนทำหน้าที่อะไร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621065" y="2226022"/>
            <a:ext cx="4961334" cy="3491656"/>
          </a:xfrm>
          <a:prstGeom prst="roundRect">
            <a:avLst>
              <a:gd name="adj" fmla="val 436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29519"/>
            <a:ext cx="5706665" cy="1362967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3163937"/>
            <a:ext cx="5706665" cy="1625351"/>
          </a:xfrm>
          <a:prstGeom prst="roundRect">
            <a:avLst>
              <a:gd name="adj" fmla="val 820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09600" y="4960739"/>
            <a:ext cx="5706665" cy="1353442"/>
          </a:xfrm>
          <a:prstGeom prst="roundRect">
            <a:avLst>
              <a:gd name="adj" fmla="val 985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906815" y="4321373"/>
            <a:ext cx="4389834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04 • ลำดับการทำงานตั้งแต่ต้นจนจบ 15 ขั้นตอน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เส้นทางของคำขอ "ข้อความ → ภาพ"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6815" y="2511772"/>
            <a:ext cx="44850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8BDF8"/>
                </a:solidFill>
                <a:latin typeface="IBM Plex Sans Thai"/>
              </a:rPr>
              <a:t>ตัวอย่างข้อมูลที่ส่งไป (Payload JSON)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6815" y="2968972"/>
            <a:ext cx="4485084" cy="11809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IBM Plex Mono"/>
              </a:rPr>
              <a:t>{ "mode": "text2img",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IBM Plex Mono"/>
              </a:rPr>
              <a:t>   "model": "sd_animagineXL40_v4Opt",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IBM Plex Mono"/>
              </a:rPr>
              <a:t>   "prompt": "a cat",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IBM Plex Mono"/>
              </a:rPr>
              <a:t>   "negative_prompt": "",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IBM Plex Mono"/>
              </a:rPr>
              <a:t>   "seed": -1 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6815" y="4502348"/>
            <a:ext cx="448508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34D399"/>
                </a:solidFill>
                <a:latin typeface="IBM Plex Sans Thai"/>
              </a:rPr>
              <a:t>ผลลัพธ์ที่ได้กลับ (Response JSON)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6815" y="4959548"/>
            <a:ext cx="4485084" cy="472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F8FAFC"/>
                </a:solidFill>
                <a:latin typeface="IBM Plex Mono"/>
              </a:rPr>
              <a:t>{ "image_url": "data:image/png;base64,...",</a:t>
            </a:r>
            <a:r>
              <a:t>
</a:t>
            </a:r>
            <a:r>
              <a:rPr b="0" sz="1200" i="0" u="none">
                <a:solidFill>
                  <a:srgbClr val="F8FAFC"/>
                </a:solidFill>
                <a:latin typeface="IBM Plex Mono"/>
              </a:rPr>
              <a:t>   "seed": 123456789 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839069"/>
            <a:ext cx="557194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284C7"/>
                </a:solidFill>
                <a:latin typeface="IBM Plex Sans Thai"/>
              </a:rPr>
              <a:t>ขั้นที่ 1–8: ฝั่งหน้าเว็บ (script.js)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7250" y="2239119"/>
            <a:ext cx="5306615" cy="5438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สร้างตัวควบคุม → เก็บโหมดและโมเดล →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buildPayload()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รวบรวมค่าจากฟอร์ม →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submit()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เรียก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api()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ส่งข้อมูลพร้อมแนบ Token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" y="3373487"/>
            <a:ext cx="557194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D97706"/>
                </a:solidFill>
                <a:latin typeface="IBM Plex Sans Thai"/>
              </a:rPr>
              <a:t>ขั้นที่ 9–14: ฝั่งเซิร์ฟเวอร์ (server.py → chat.py → Forge)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3773537"/>
            <a:ext cx="5306615" cy="8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forward()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ตรวจค่าและส่งต่อ →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generate()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เรียก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text2img()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→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with_model()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ใส่ชื่อโมเดล →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call_forge()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ยิงไปที่ Forge Neo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" y="5170289"/>
            <a:ext cx="5571946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75" i="0" u="none">
                <a:solidFill>
                  <a:srgbClr val="0D9488"/>
                </a:solidFill>
                <a:latin typeface="IBM Plex Sans Thai"/>
              </a:rPr>
              <a:t>ขั้นที่ 15: แสดงผลลัพธ์บนหน้าจอ (script.js)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250" y="5570339"/>
            <a:ext cx="5306615" cy="5342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ฟังก์ชัน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showResult()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รับข้อมูลภาพ Base64 และค่า Seed ที่ใช้จริงกลับมาแสดงผลทันที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09712"/>
            <a:ext cx="3543300" cy="1533525"/>
          </a:xfrm>
          <a:prstGeom prst="roundRect">
            <a:avLst>
              <a:gd name="adj" fmla="val 869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24350" y="1509712"/>
            <a:ext cx="3543300" cy="1533525"/>
          </a:xfrm>
          <a:prstGeom prst="roundRect">
            <a:avLst>
              <a:gd name="adj" fmla="val 8695"/>
            </a:avLst>
          </a:prstGeom>
          <a:solidFill>
            <a:srgbClr val="FFF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39100" y="1652587"/>
            <a:ext cx="3543300" cy="1247775"/>
          </a:xfrm>
          <a:prstGeom prst="roundRect">
            <a:avLst>
              <a:gd name="adj" fmla="val 10687"/>
            </a:avLst>
          </a:prstGeom>
          <a:solidFill>
            <a:srgbClr val="F0FD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3233737"/>
          <a:ext cx="10972798" cy="312420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566666"/>
                <a:gridCol w="1703784"/>
                <a:gridCol w="2692003"/>
                <a:gridCol w="1658391"/>
                <a:gridCol w="1351954"/>
              </a:tblGrid>
              <a:tr h="520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โหมดการทำงาน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ผู้ประมวลผล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เครื่องมือที่ใช้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ผ่าน Backend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FFFFFF"/>
                          </a:solidFill>
                          <a:latin typeface="IBM Plex Sans Thai"/>
                        </a:rPr>
                        <a:t>อัปโหลดรูป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1. ข้อความ → ภาพ (Text-to-Image)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Forge Neo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Stable Diffusion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BM Plex Sans Thai"/>
                        </a:rPr>
                        <a:t>ผ่าน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64748B"/>
                          </a:solidFill>
                          <a:latin typeface="IBM Plex Sans Thai"/>
                        </a:rPr>
                        <a:t>ไม่ต้องใช้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2. ภาพ → ภาพ (Image-to-Image)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Forge Neo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Stable Diffusion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BM Plex Sans Thai"/>
                        </a:rPr>
                        <a:t>ผ่าน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ต้องใช้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3. เบลอภาพ (Blur)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chat.py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OpenCV </a:t>
                      </a:r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GaussianBlur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BM Plex Sans Thai"/>
                        </a:rPr>
                        <a:t>ผ่าน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ต้องใช้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4. ดึงเส้นขอบ (Canny)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chat.py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OpenCV </a:t>
                      </a:r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Canny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284C7"/>
                          </a:solidFill>
                          <a:latin typeface="IBM Plex Sans Thai"/>
                        </a:rPr>
                        <a:t>ผ่าน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ต้องใช้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5. ตรวจจับวัตถุ (Object Detection)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D9488"/>
                          </a:solidFill>
                          <a:latin typeface="IBM Plex Sans Thai"/>
                        </a:rPr>
                        <a:t>เบราว์เซอร์ผู้ใช้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350" i="0" u="none">
                          <a:solidFill>
                            <a:srgbClr val="1E293B"/>
                          </a:solidFill>
                          <a:latin typeface="IBM Plex Sans Thai"/>
                        </a:rPr>
                        <a:t>MediaPipe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D97706"/>
                          </a:solidFill>
                          <a:latin typeface="IBM Plex Sans Thai"/>
                        </a:rPr>
                        <a:t>ไม่ผ่าน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350" i="0" u="none">
                          <a:solidFill>
                            <a:srgbClr val="0F172A"/>
                          </a:solidFill>
                          <a:latin typeface="IBM Plex Sans Thai"/>
                        </a:rPr>
                        <a:t>ต้องใช้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4191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05 • การกระจายงานตามโหมด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143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ภาพรวม 5 โหมดและการแยกเส้นทางคำขอ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1681162"/>
            <a:ext cx="32194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369A1"/>
                </a:solidFill>
                <a:latin typeface="IBM Plex Sans Thai"/>
              </a:rPr>
              <a:t>ทางที่ 1: สร้าง / แปลงภาพด้วย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014537"/>
            <a:ext cx="32194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E3A8A"/>
                </a:solidFill>
                <a:latin typeface="IBM Plex Sans Thai"/>
              </a:rPr>
              <a:t>submit()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/api/generate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chat.py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 → </a:t>
            </a:r>
            <a:r>
              <a:rPr b="1" sz="1350" i="0" u="none">
                <a:solidFill>
                  <a:srgbClr val="1E3A8A"/>
                </a:solidFill>
                <a:latin typeface="IBM Plex Sans Thai"/>
              </a:rPr>
              <a:t>Forge Neo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1E3A8A"/>
                </a:solidFill>
                <a:latin typeface="IBM Plex Sans Thai"/>
              </a:rPr>
              <a:t>showResult()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3900" y="1681162"/>
            <a:ext cx="32194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B45309"/>
                </a:solidFill>
                <a:latin typeface="IBM Plex Sans Thai"/>
              </a:rPr>
              <a:t>ทางที่ 2: เบลอภาพ / ดึงเส้นขอบ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3900" y="2014537"/>
            <a:ext cx="321945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78350F"/>
                </a:solidFill>
                <a:latin typeface="IBM Plex Sans Thai"/>
              </a:rPr>
              <a:t>submit()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/api/blur, /canny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chat.py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 → </a:t>
            </a:r>
            <a:r>
              <a:rPr b="1" sz="1350" i="0" u="none">
                <a:solidFill>
                  <a:srgbClr val="78350F"/>
                </a:solidFill>
                <a:latin typeface="IBM Plex Sans Thai"/>
              </a:rPr>
              <a:t>OpenCV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78350F"/>
                </a:solidFill>
                <a:latin typeface="IBM Plex Sans Thai"/>
              </a:rPr>
              <a:t>showResult()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48650" y="1824037"/>
            <a:ext cx="3219450" cy="295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F766E"/>
                </a:solidFill>
                <a:latin typeface="IBM Plex Sans Thai"/>
              </a:rPr>
              <a:t>ทางที่ 3: ตรวจจับวัตถุในภาพ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48650" y="2157412"/>
            <a:ext cx="32194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134E4A"/>
                </a:solidFill>
                <a:latin typeface="IBM Plex Sans Thai"/>
              </a:rPr>
              <a:t>submit()</a:t>
            </a:r>
            <a:r>
              <a:rPr b="0" sz="1350" i="0" u="none">
                <a:solidFill>
                  <a:srgbClr val="134E4A"/>
                </a:solidFill>
                <a:latin typeface="IBM Plex Sans Thai"/>
              </a:rPr>
              <a:t> → </a:t>
            </a:r>
            <a:r>
              <a:rPr b="1" sz="1350" i="0" u="none">
                <a:solidFill>
                  <a:srgbClr val="134E4A"/>
                </a:solidFill>
                <a:latin typeface="IBM Plex Sans Thai"/>
              </a:rPr>
              <a:t>ทำในเบราว์เซอร์ทันที</a:t>
            </a:r>
            <a:r>
              <a:rPr b="0" sz="1350" i="0" u="none">
                <a:solidFill>
                  <a:srgbClr val="134E4A"/>
                </a:solidFill>
                <a:latin typeface="IBM Plex Sans Thai"/>
              </a:rPr>
              <a:t> → </a:t>
            </a:r>
            <a:r>
              <a:rPr b="1" sz="1350" i="0" u="none">
                <a:solidFill>
                  <a:srgbClr val="134E4A"/>
                </a:solidFill>
                <a:latin typeface="IBM Plex Sans Thai"/>
              </a:rPr>
              <a:t>MediaPipe</a:t>
            </a:r>
            <a:r>
              <a:rPr b="0" sz="1350" i="0" u="none">
                <a:solidFill>
                  <a:srgbClr val="134E4A"/>
                </a:solidFill>
                <a:latin typeface="IBM Plex Sans Thai"/>
              </a:rPr>
              <a:t> → </a:t>
            </a:r>
            <a:r>
              <a:rPr b="0" sz="1350" i="0" u="none">
                <a:solidFill>
                  <a:srgbClr val="134E4A"/>
                </a:solidFill>
                <a:latin typeface="IBM Plex Sans Thai"/>
              </a:rPr>
              <a:t>showResult()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762125"/>
            <a:ext cx="5334000" cy="4419600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1757362"/>
            <a:ext cx="5334000" cy="4429125"/>
          </a:xfrm>
          <a:prstGeom prst="roundRect">
            <a:avLst>
              <a:gd name="adj" fmla="val 38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33450" y="2905125"/>
            <a:ext cx="46863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72250" y="2900362"/>
            <a:ext cx="468630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450" y="2247900"/>
            <a:ext cx="36195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2243137"/>
            <a:ext cx="361950" cy="3238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05.1 • โหมดสร้างและแปลงภาพด้วย AI (Forge Neo)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หลักการทำงาน: Text-to-Image และ Image-to-Image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3450" y="3095625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จุดเริ่มต้น: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สร้างภาพใหม่จากสัญญาณรบกวน (Noise) ล้วนโดยไม่ใช้รูปต้นฉบับ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450" y="3819525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ข้อมูลที่ส่งให้ Forge: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prompt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,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negative_prompt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,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seed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และชื่อ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3450" y="4543425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พารามิเตอร์หลัก: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ขนาดภาพ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1024×1024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พิกเซล และลบ Noise จำนวน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steps = 20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รอบ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450" y="5267325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การสุ่ม Seed: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ส่ง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seed = -1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เพื่อให้ Forge สุ่มเลขใหม่แล้วส่งค่าจริงกลับมา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2250" y="3090862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จุดเริ่มต้น: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ใช้ภาพต้นฉบับที่อัปโหลด (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init_image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) ผสมกับ Noise แล้ววาดใหม่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2250" y="3814762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การเตรียมภาพ: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prepare_image()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แปลงเป็น RGB และปรับขนาดให้หาร 8 ลงตัว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0" y="4538662"/>
            <a:ext cx="47815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ตัวแปรควบคุม (</a:t>
            </a:r>
            <a:r>
              <a:rPr b="1" sz="1425" i="0" u="none">
                <a:solidFill>
                  <a:srgbClr val="1E293B"/>
                </a:solidFill>
                <a:latin typeface="IBM Plex Sans Thai"/>
              </a:rPr>
              <a:t>denoising_strength</a:t>
            </a:r>
            <a:r>
              <a:rPr b="1" sz="1425" i="0" u="none">
                <a:solidFill>
                  <a:srgbClr val="1E293B"/>
                </a:solidFill>
                <a:latin typeface="IBM Plex Sans Thai"/>
              </a:rPr>
              <a:t>):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กำหนดสัดส่วนการเปลี่ยนแปลงภาพเดิม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2250" y="5272087"/>
            <a:ext cx="4781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ผลของค่าความแรง: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ค่าน้อยจะคงโครงสร้างภาพเดิม ค่ามากจะเปลี่ยนตาม Prompt มากขึ้น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7800" y="2085975"/>
            <a:ext cx="39909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284C7"/>
                </a:solidFill>
                <a:latin typeface="IBM Plex Mono"/>
              </a:rPr>
              <a:t>POST /api/generate (mode: text2img)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47800" y="2324100"/>
            <a:ext cx="419052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BM Plex Sans Thai"/>
              </a:rPr>
              <a:t>1. ข้อความ → ภาพ (Text-to-Image)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2081212"/>
            <a:ext cx="38290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D97706"/>
                </a:solidFill>
                <a:latin typeface="IBM Plex Mono"/>
              </a:rPr>
              <a:t>POST /api/img2img (mode: img2img)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2319337"/>
            <a:ext cx="4020502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BM Plex Sans Thai"/>
              </a:rPr>
              <a:t>2. ภาพ → ภาพ (Image-to-Image)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14950"/>
            <a:ext cx="10972800" cy="971550"/>
          </a:xfrm>
          <a:prstGeom prst="roundRect">
            <a:avLst>
              <a:gd name="adj" fmla="val 13725"/>
            </a:avLst>
          </a:prstGeom>
          <a:solidFill>
            <a:srgbClr val="F0F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657350"/>
            <a:ext cx="5334000" cy="3409950"/>
          </a:xfrm>
          <a:prstGeom prst="roundRect">
            <a:avLst>
              <a:gd name="adj" fmla="val 50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1657350"/>
            <a:ext cx="5334000" cy="3409950"/>
          </a:xfrm>
          <a:prstGeom prst="roundRect">
            <a:avLst>
              <a:gd name="adj" fmla="val 502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33600"/>
            <a:ext cx="2286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133600"/>
            <a:ext cx="3810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05.2 • โหมดประมวลผลภาพความเร็วสูงด้วย OpenCV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หลักการทำงาน: เบลอภาพ (Blur) และดึงเส้นขอบ (Canny)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5505450"/>
            <a:ext cx="104965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0369A1"/>
                </a:solidFill>
                <a:latin typeface="IBM Plex Sans Thai"/>
              </a:rPr>
              <a:t>ข้อดีของการใช้ OpenCV ใน chat.py:</a:t>
            </a:r>
            <a:r>
              <a:rPr b="0" sz="1425" i="0" u="none">
                <a:solidFill>
                  <a:srgbClr val="0369A1"/>
                </a:solidFill>
                <a:latin typeface="IBM Plex Sans Thai"/>
              </a:rPr>
              <a:t> คำนวณทางคณิตศาสตร์โดยตรงเสร็จในเสี้ยววินาที ไม่ต้องใช้โมเดล AI และไม่แย่งคิว GPU ของ Forge Neo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225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ขั้นตอนประมวลผล: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chat.py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แปลงภาพ Base64 เป็นอาเรย์ OpenCV แล้วเบลอด้วย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cv2.GaussianBlur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46710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กฎค่าความแรง: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ขนาดตัวกรอง (Kernel Size) ต้องเป็น</a:t>
            </a:r>
            <a:r>
              <a:rPr b="1" sz="1425" i="0" u="none">
                <a:solidFill>
                  <a:srgbClr val="1E293B"/>
                </a:solidFill>
                <a:latin typeface="IBM Plex Sans Thai"/>
              </a:rPr>
              <a:t>เลขคี่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เสมอ โค้ดจึงบังคับค่าด้วย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|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7195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การส่งผลกลับ: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เข้ารหัสภาพผลลัพธ์เป็น PNG Base64 ส่งกลับไปแสดงผลทันที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76225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ขั้นตอนประมวลผล: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แปลงภาพสีต้นฉบับเป็น</a:t>
            </a:r>
            <a:r>
              <a:rPr b="1" sz="1425" i="0" u="none">
                <a:solidFill>
                  <a:srgbClr val="1E293B"/>
                </a:solidFill>
                <a:latin typeface="IBM Plex Sans Thai"/>
              </a:rPr>
              <a:t>ภาพขาวดำ (Grayscale)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ก่อนวิเคราะห์ความต่างแสง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200" y="346710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การคัดกรองเส้น: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ใช้ 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cv2.Canny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ค้นหาเส้นขอบตามเกณฑ์</a:t>
            </a:r>
            <a:r>
              <a:rPr b="1" sz="1425" i="0" u="none">
                <a:solidFill>
                  <a:srgbClr val="1E293B"/>
                </a:solidFill>
                <a:latin typeface="IBM Plex Sans Thai"/>
              </a:rPr>
              <a:t>ค่าต่ำ (Low)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และ</a:t>
            </a:r>
            <a:r>
              <a:rPr b="1" sz="1425" i="0" u="none">
                <a:solidFill>
                  <a:srgbClr val="1E293B"/>
                </a:solidFill>
                <a:latin typeface="IBM Plex Sans Thai"/>
              </a:rPr>
              <a:t>ค่าสูง (High)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171950"/>
            <a:ext cx="4819650" cy="590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25" i="0" u="none">
                <a:solidFill>
                  <a:srgbClr val="1E293B"/>
                </a:solidFill>
                <a:latin typeface="IBM Plex Sans Thai"/>
              </a:rPr>
              <a:t>ผลลัพธ์ที่ได้:</a:t>
            </a:r>
            <a:r>
              <a:rPr b="0" sz="1425" i="0" u="none">
                <a:solidFill>
                  <a:srgbClr val="1E293B"/>
                </a:solidFill>
                <a:latin typeface="IBM Plex Sans Thai"/>
              </a:rPr>
              <a:t> ภาพพื้นหลังดำที่มีเฉพาะเส้นโครงร่างสีขาวคมชัดพร้อมใช้งาน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400" y="1962150"/>
            <a:ext cx="3790950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D9488"/>
                </a:solidFill>
                <a:latin typeface="IBM Plex Mono"/>
              </a:rPr>
              <a:t>POST /api/blur → chat.py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400" y="2200275"/>
            <a:ext cx="3980497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BM Plex Sans Thai"/>
              </a:rPr>
              <a:t>3. โหมดเบลอภาพ (Gaussian Blur)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1962150"/>
            <a:ext cx="3648075" cy="2381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4F46E5"/>
                </a:solidFill>
                <a:latin typeface="IBM Plex Mono"/>
              </a:rPr>
              <a:t>POST /api/canny → chat.py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200275"/>
            <a:ext cx="3830478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950" i="0" u="none">
                <a:solidFill>
                  <a:srgbClr val="0F172A"/>
                </a:solidFill>
                <a:latin typeface="IBM Plex Sans Thai"/>
              </a:rPr>
              <a:t>4. โหมดดึงเส้นขอบ (Canny Edge)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015805"/>
            <a:ext cx="10972800" cy="771525"/>
          </a:xfrm>
          <a:prstGeom prst="roundRect">
            <a:avLst>
              <a:gd name="adj" fmla="val 17283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161282"/>
            <a:ext cx="3505200" cy="2583060"/>
          </a:xfrm>
          <a:prstGeom prst="roundRect">
            <a:avLst>
              <a:gd name="adj" fmla="val 5899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156519"/>
            <a:ext cx="3505200" cy="2592585"/>
          </a:xfrm>
          <a:prstGeom prst="roundRect">
            <a:avLst>
              <a:gd name="adj" fmla="val 5878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297162"/>
            <a:ext cx="3505200" cy="2311151"/>
          </a:xfrm>
          <a:prstGeom prst="roundRect">
            <a:avLst>
              <a:gd name="adj" fmla="val 659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447032"/>
            <a:ext cx="2933700" cy="3238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9150" y="2442269"/>
            <a:ext cx="2933700" cy="3238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950" y="2582912"/>
            <a:ext cx="2933700" cy="3238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05.3 • โหมดวิเคราะห์ภาพบนเครื่องผู้ใช้ (Client-Side AI)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5. โหมดตรวจจับวัตถุ (Object Detection) ด้วย MediaPipe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57325" y="5244405"/>
            <a:ext cx="9372600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369A1"/>
                </a:solidFill>
                <a:latin typeface="IBM Plex Sans Thai"/>
              </a:rPr>
              <a:t>จุดเด่นสำคัญ: ภาพไม่ออกจากเครื่องผู้ใช้ 100% • รักษาความเป็นส่วนตัว • ไม่เพิ่มภาระให้เซิร์ฟเวอร์ Backend และ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5350" y="2904232"/>
            <a:ext cx="318039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0F172A"/>
                </a:solidFill>
                <a:latin typeface="IBM Plex Sans Thai"/>
              </a:rPr>
              <a:t>1. โหลดโมเดลเข้าเบราว์เซอร์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399532"/>
            <a:ext cx="3028950" cy="1059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เบราว์เซอร์ดึงตัวตรวจจับ MediaPipe และไฟล์โมเดลจาก CDN และ Google Storage โดยต้องต่ออินเทอร์เน็ตและเปิดผ่าน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http://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9150" y="2899469"/>
            <a:ext cx="318039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0F172A"/>
                </a:solidFill>
                <a:latin typeface="IBM Plex Sans Thai"/>
              </a:rPr>
              <a:t>2. ประมวลผลด้วย GPU / CPU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29150" y="3394769"/>
            <a:ext cx="3028950" cy="10685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ฝั่ง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frontend/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ลองใช้ GPU ก่อนแล้วถอยไป CPU อัตโนมัติ ส่วน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All/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ให้ผู้ใช้เลือก GPU/CPU และเกณฑ์ความมั่นใจได้เอง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2950" y="3040112"/>
            <a:ext cx="3180397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725" i="0" u="none">
                <a:solidFill>
                  <a:srgbClr val="0F172A"/>
                </a:solidFill>
                <a:latin typeface="IBM Plex Sans Thai"/>
              </a:rPr>
              <a:t>3. วาดกรอบและสรุปจำนวน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2950" y="3535412"/>
            <a:ext cx="3028950" cy="787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แสดงภาพที่ตีกรอบรอบวัตถุ พร้อมชื่อชนิด เปอร์เซ็นต์ความมั่นใจ และสรุปจำนวนวัตถุแต่ละชนิดที่ตรวจพบทันที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060823"/>
            <a:ext cx="5372100" cy="1806326"/>
          </a:xfrm>
          <a:prstGeom prst="roundRect">
            <a:avLst>
              <a:gd name="adj" fmla="val 84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060823"/>
            <a:ext cx="5372100" cy="1806326"/>
          </a:xfrm>
          <a:prstGeom prst="roundRect">
            <a:avLst>
              <a:gd name="adj" fmla="val 843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4095750"/>
            <a:ext cx="5372100" cy="1787276"/>
          </a:xfrm>
          <a:prstGeom prst="roundRect">
            <a:avLst>
              <a:gd name="adj" fmla="val 8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4095750"/>
            <a:ext cx="5372100" cy="1787276"/>
          </a:xfrm>
          <a:prstGeom prst="roundRect">
            <a:avLst>
              <a:gd name="adj" fmla="val 852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2346573"/>
            <a:ext cx="3429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6050" y="2346573"/>
            <a:ext cx="228600" cy="3048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350" y="4381500"/>
            <a:ext cx="304800" cy="3048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6050" y="4381500"/>
            <a:ext cx="304800" cy="304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0680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IBM Plex Sans Thai"/>
              </a:rPr>
              <a:t>06 • ทฤษฎีและการเตรียมข้อมูลภาพ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52475"/>
            <a:ext cx="11582400" cy="561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BM Plex Sans Thai"/>
              </a:rPr>
              <a:t>หลักการสร้างภาพและการจัดการ Base64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28750" y="2346573"/>
            <a:ext cx="4580572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 Thai"/>
              </a:rPr>
              <a:t>1. องค์ประกอบภายใน Forge Neo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750" y="2775198"/>
            <a:ext cx="4362450" cy="787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1" sz="1425" i="0" u="none">
                <a:solidFill>
                  <a:srgbClr val="334155"/>
                </a:solidFill>
                <a:latin typeface="IBM Plex Sans Thai"/>
              </a:rPr>
              <a:t>Text Encoder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แปลงข้อความเป็นตัวเลข • </a:t>
            </a:r>
            <a:r>
              <a:rPr b="1" sz="1425" i="0" u="none">
                <a:solidFill>
                  <a:srgbClr val="334155"/>
                </a:solidFill>
                <a:latin typeface="IBM Plex Sans Thai"/>
              </a:rPr>
              <a:t>Seed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กำหนดจุดสุ่มตั้งต้น • ค่อยๆ ลบ </a:t>
            </a:r>
            <a:r>
              <a:rPr b="1" sz="1425" i="0" u="none">
                <a:solidFill>
                  <a:srgbClr val="334155"/>
                </a:solidFill>
                <a:latin typeface="IBM Plex Sans Thai"/>
              </a:rPr>
              <a:t>Noise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20 รอบ • </a:t>
            </a:r>
            <a:r>
              <a:rPr b="1" sz="1425" i="0" u="none">
                <a:solidFill>
                  <a:srgbClr val="334155"/>
                </a:solidFill>
                <a:latin typeface="IBM Plex Sans Thai"/>
              </a:rPr>
              <a:t>VAE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แปลงภาพย่อกลับเป็นพิกเซลจริง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15150" y="2346573"/>
            <a:ext cx="470058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 Thai"/>
              </a:rPr>
              <a:t>2. ทำไมต้องส่งภาพเป็น Base64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15150" y="2775198"/>
            <a:ext cx="4476750" cy="8062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JSON ส่งได้เฉพาะข้อความ จึงใช้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FileReader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แปลงภาพเป็นข้อความ แล้วตัดส่วนหัวออกด้วย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strip_data_url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ก่อนส่งให้ Forge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90650" y="4381500"/>
            <a:ext cx="462057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 Thai"/>
              </a:rPr>
              <a:t>3. การเตรียมภาพ (prepare_image)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4810125"/>
            <a:ext cx="4400550" cy="7871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ถอดรหัสเป็นไบต์ด้วย Pillow → แปลงเป็น </a:t>
            </a:r>
            <a:r>
              <a:rPr b="1" sz="1425" i="0" u="none">
                <a:solidFill>
                  <a:srgbClr val="334155"/>
                </a:solidFill>
                <a:latin typeface="IBM Plex Sans Thai"/>
              </a:rPr>
              <a:t>RGB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(ป้องกัน CUDA error จากพื้นโปร่งใส) → ปรับขนาดให้</a:t>
            </a:r>
            <a:r>
              <a:rPr b="1" sz="1425" i="0" u="none">
                <a:solidFill>
                  <a:srgbClr val="334155"/>
                </a:solidFill>
                <a:latin typeface="IBM Plex Sans Thai"/>
              </a:rPr>
              <a:t>หาร 8 ลงตัว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(64–1024 พิกเซล)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91350" y="4381500"/>
            <a:ext cx="462057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BM Plex Sans Thai"/>
              </a:rPr>
              <a:t>4. การเข้ารหัสส่งภาพขากลับ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1350" y="4810125"/>
            <a:ext cx="4400550" cy="54381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66"/>
              </a:lnSpc>
            </a:pPr>
            <a:r>
              <a:rPr b="0" sz="1425" i="0" u="none">
                <a:solidFill>
                  <a:srgbClr val="334155"/>
                </a:solidFill>
                <a:latin typeface="IBM Plex Sans Thai"/>
              </a:rPr>
              <a:t>เติมส่วนหัว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data:image/png;base64,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กลับเข้าไป เพื่อให้ฟังก์ชัน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showResult()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นำไปใส่แท็ก </a:t>
            </a:r>
            <a:r>
              <a:rPr b="0" sz="1425" i="0" u="none">
                <a:solidFill>
                  <a:srgbClr val="334155"/>
                </a:solidFill>
                <a:latin typeface="IBM Plex Sans Thai"/>
              </a:rPr>
              <a:t> แสดงผลได้ทันที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747962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747962"/>
            <a:ext cx="3505200" cy="19050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52875" y="1309687"/>
            <a:ext cx="428625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8BDF8"/>
                </a:solidFill>
                <a:latin typeface="IBM Plex Sans Thai"/>
              </a:rPr>
              <a:t>07 • บทสรุปการทำงานของระบบประมวลผลภาพ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810" y="1681162"/>
            <a:ext cx="1102637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300" i="0" u="none">
                <a:solidFill>
                  <a:srgbClr val="F8FAFC"/>
                </a:solidFill>
                <a:latin typeface="IBM Plex Sans Thai"/>
              </a:rPr>
              <a:t>สรุปหัวใจสำคัญของพาร์ทการสร้างและแต่งภาพ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4218" y="5110162"/>
            <a:ext cx="5643562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F8FAFC"/>
                </a:solidFill>
                <a:latin typeface="IBM Plex Sans Thai"/>
              </a:rPr>
              <a:t>ขอบคุณครับ / ค่ะ • เปิดรับคำถาม (Q&amp;A)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3033712"/>
            <a:ext cx="318039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8BDF8"/>
                </a:solidFill>
                <a:latin typeface="IBM Plex Sans Thai"/>
              </a:rPr>
              <a:t>1. แยกตัวประมวลผล 3 ทาง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5350" y="3481387"/>
            <a:ext cx="30289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E2E8F0"/>
                </a:solidFill>
                <a:latin typeface="IBM Plex Sans Thai"/>
              </a:rPr>
              <a:t>ใช้ Forge Neo วาดภาพ AI ใช้ OpenCV แต่งภาพเร็ว และใช้ MediaPipe บนเบราว์เซอร์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29150" y="3033712"/>
            <a:ext cx="318039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FBBF24"/>
                </a:solidFill>
                <a:latin typeface="IBM Plex Sans Thai"/>
              </a:rPr>
              <a:t>2. เตรียมภาพก่อนเข้าโมเดล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29150" y="3481387"/>
            <a:ext cx="30289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E2E8F0"/>
                </a:solidFill>
                <a:latin typeface="IBM Plex Sans Thai"/>
              </a:rPr>
              <a:t>รับส่งด้วย Base64 แปลงเป็น RGB และปรับขนาดหาร 8 ลงตัวป้องกันข้อผิดพลาด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2950" y="3033712"/>
            <a:ext cx="3180397" cy="3524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34D399"/>
                </a:solidFill>
                <a:latin typeface="IBM Plex Sans Thai"/>
              </a:rPr>
              <a:t>3. แสดงผลและแจ้งสถานะชัดเจน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2950" y="3481387"/>
            <a:ext cx="3028950" cy="8858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425" i="0" u="none">
                <a:solidFill>
                  <a:srgbClr val="E2E8F0"/>
                </a:solidFill>
                <a:latin typeface="IBM Plex Sans Thai"/>
              </a:rPr>
              <a:t>ส่งภาพพร้อมค่า Seed กลับไปแสดงที่ </a:t>
            </a:r>
            <a:r>
              <a:rPr b="0" sz="1425" i="0" u="none">
                <a:solidFill>
                  <a:srgbClr val="E2E8F0"/>
                </a:solidFill>
                <a:latin typeface="IBM Plex Sans Thai"/>
              </a:rPr>
              <a:t>showResult()</a:t>
            </a:r>
            <a:r>
              <a:rPr b="0" sz="1425" i="0" u="none">
                <a:solidFill>
                  <a:srgbClr val="E2E8F0"/>
                </a:solidFill>
                <a:latin typeface="IBM Plex Sans Thai"/>
              </a:rPr>
              <a:t> และแจ้งเตือนเมื่อ Forge ปิดอยู่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